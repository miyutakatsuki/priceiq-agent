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C2626"/>
                </a:solidFill>
                <a:latin typeface="Inter"/>
              </a:rPr>
              <a:t>JHU CAREY  ·  GENERATIVE AI  ·  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88920"/>
            <a:ext cx="105457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09090B"/>
                </a:solidFill>
                <a:latin typeface="Inter"/>
              </a:rPr>
              <a:t>PriceIQ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0">
                <a:solidFill>
                  <a:srgbClr val="52525B"/>
                </a:solidFill>
                <a:latin typeface="Inter"/>
              </a:rPr>
              <a:t>A pricing decision agent grounded in 100,000 real e-commerce orders.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1A1AA"/>
                </a:solidFill>
                <a:latin typeface="Inter"/>
              </a:rPr>
              <a:t>Kangchun Sun  ·  Tao Cheng  ·  Maoyuan Li    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C2626"/>
                </a:solidFill>
                <a:latin typeface="Inter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4577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09090B"/>
                </a:solidFill>
                <a:latin typeface="Inter"/>
              </a:rPr>
              <a:t>A correct pricing answer needs four kinds of evidence the LLM cannot fabricate.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A1A1AA"/>
                </a:solidFill>
                <a:latin typeface="Inter"/>
              </a:rPr>
              <a:t>QUANTITATIVE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52525B"/>
                </a:solidFill>
                <a:latin typeface="Inter"/>
              </a:rPr>
              <a:t>Price elasticity β with a confidence interval — measured, not guessed.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38404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A1A1AA"/>
                </a:solidFill>
                <a:latin typeface="Inter"/>
              </a:rPr>
              <a:t>CONTEXTUAL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420624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52525B"/>
                </a:solidFill>
                <a:latin typeface="Inter"/>
              </a:rPr>
              <a:t>Holiday proximity. Weather. Seasonality. Each is a separate signal.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9788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A1A1AA"/>
                </a:solidFill>
                <a:latin typeface="Inter"/>
              </a:rPr>
              <a:t>A single prompt cannot run OLS. A multi-step agent with typed tools can.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6355080"/>
            <a:ext cx="1054577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64465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1A1AA"/>
                </a:solidFill>
                <a:latin typeface="Inter"/>
              </a:rPr>
              <a:t>PriceIQ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82335" y="64465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A1A1AA"/>
                </a:solidFill>
                <a:latin typeface="Inter"/>
              </a:rPr>
              <a:t>Problem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C2626"/>
                </a:solidFill>
                <a:latin typeface="Inter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4577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09090B"/>
                </a:solidFill>
                <a:latin typeface="Inter"/>
              </a:rPr>
              <a:t>Two agents, five tools, one kill switch.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1187" y="2468880"/>
            <a:ext cx="2743200" cy="96012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600" b="1">
                <a:solidFill>
                  <a:srgbClr val="09090B"/>
                </a:solidFill>
                <a:latin typeface="Inter"/>
              </a:rPr>
              <a:t>Planner</a:t>
            </a:r>
          </a:p>
          <a:p>
            <a:pPr algn="ctr">
              <a:lnSpc>
                <a:spcPct val="120000"/>
              </a:lnSpc>
            </a:pPr>
            <a:r>
              <a:rPr sz="1200">
                <a:solidFill>
                  <a:srgbClr val="52525B"/>
                </a:solidFill>
                <a:latin typeface="Inter"/>
              </a:rPr>
              <a:t>Sonnet 4.5  ·  XML few-shot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47307" y="2468880"/>
            <a:ext cx="2743200" cy="96012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600" b="1">
                <a:solidFill>
                  <a:srgbClr val="09090B"/>
                </a:solidFill>
                <a:latin typeface="Inter"/>
              </a:rPr>
              <a:t>Executor</a:t>
            </a:r>
          </a:p>
          <a:p>
            <a:pPr algn="ctr">
              <a:lnSpc>
                <a:spcPct val="120000"/>
              </a:lnSpc>
            </a:pPr>
            <a:r>
              <a:rPr sz="1200">
                <a:solidFill>
                  <a:srgbClr val="52525B"/>
                </a:solidFill>
                <a:latin typeface="Inter"/>
              </a:rPr>
              <a:t>Haiku 4.5  ·  tool_use loop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44387" y="2948940"/>
            <a:ext cx="502920" cy="0"/>
          </a:xfrm>
          <a:prstGeom prst="line">
            <a:avLst/>
          </a:prstGeom>
          <a:ln w="11906">
            <a:solidFill>
              <a:srgbClr val="525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44387" y="256489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A1A1AA"/>
                </a:solidFill>
                <a:latin typeface="Inter"/>
              </a:rPr>
              <a:t>JSON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0366" y="4023360"/>
            <a:ext cx="1874519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500" b="1">
                <a:solidFill>
                  <a:srgbClr val="09090B"/>
                </a:solidFill>
                <a:latin typeface="Inter"/>
              </a:rPr>
              <a:t>SQL</a:t>
            </a:r>
          </a:p>
          <a:p>
            <a:pPr algn="ctr">
              <a:lnSpc>
                <a:spcPct val="120000"/>
              </a:lnSpc>
            </a:pPr>
            <a:r>
              <a:rPr sz="1100">
                <a:solidFill>
                  <a:srgbClr val="52525B"/>
                </a:solidFill>
                <a:latin typeface="Inter"/>
              </a:rPr>
              <a:t>Olist SQLite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017625" y="3429000"/>
            <a:ext cx="5701282" cy="594360"/>
          </a:xfrm>
          <a:prstGeom prst="line">
            <a:avLst/>
          </a:prstGeom>
          <a:ln w="4762">
            <a:solidFill>
              <a:srgbClr val="D4D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119477" y="4023360"/>
            <a:ext cx="1874519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500" b="1">
                <a:solidFill>
                  <a:srgbClr val="09090B"/>
                </a:solidFill>
                <a:latin typeface="Inter"/>
              </a:rPr>
              <a:t>OLS</a:t>
            </a:r>
          </a:p>
          <a:p>
            <a:pPr algn="ctr">
              <a:lnSpc>
                <a:spcPct val="120000"/>
              </a:lnSpc>
            </a:pPr>
            <a:r>
              <a:rPr sz="1100">
                <a:solidFill>
                  <a:srgbClr val="52525B"/>
                </a:solidFill>
                <a:latin typeface="Inter"/>
              </a:rPr>
              <a:t>Elasticity β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4056736" y="3429000"/>
            <a:ext cx="3662171" cy="594360"/>
          </a:xfrm>
          <a:prstGeom prst="line">
            <a:avLst/>
          </a:prstGeom>
          <a:ln w="4762">
            <a:solidFill>
              <a:srgbClr val="D4D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58588" y="4023360"/>
            <a:ext cx="1874519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500" b="1">
                <a:solidFill>
                  <a:srgbClr val="09090B"/>
                </a:solidFill>
                <a:latin typeface="Inter"/>
              </a:rPr>
              <a:t>Demand</a:t>
            </a:r>
          </a:p>
          <a:p>
            <a:pPr algn="ctr">
              <a:lnSpc>
                <a:spcPct val="120000"/>
              </a:lnSpc>
            </a:pPr>
            <a:r>
              <a:rPr sz="1100">
                <a:solidFill>
                  <a:srgbClr val="52525B"/>
                </a:solidFill>
                <a:latin typeface="Inter"/>
              </a:rPr>
              <a:t>Holidays + season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6095847" y="3429000"/>
            <a:ext cx="1623060" cy="594360"/>
          </a:xfrm>
          <a:prstGeom prst="line">
            <a:avLst/>
          </a:prstGeom>
          <a:ln w="4762">
            <a:solidFill>
              <a:srgbClr val="D4D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197699" y="4023360"/>
            <a:ext cx="1874519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500" b="1">
                <a:solidFill>
                  <a:srgbClr val="09090B"/>
                </a:solidFill>
                <a:latin typeface="Inter"/>
              </a:rPr>
              <a:t>Weather</a:t>
            </a:r>
          </a:p>
          <a:p>
            <a:pPr algn="ctr">
              <a:lnSpc>
                <a:spcPct val="120000"/>
              </a:lnSpc>
            </a:pPr>
            <a:r>
              <a:rPr sz="1100">
                <a:solidFill>
                  <a:srgbClr val="52525B"/>
                </a:solidFill>
                <a:latin typeface="Inter"/>
              </a:rPr>
              <a:t>OpenWeather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18907" y="3429000"/>
            <a:ext cx="416051" cy="594360"/>
          </a:xfrm>
          <a:prstGeom prst="line">
            <a:avLst/>
          </a:prstGeom>
          <a:ln w="4762">
            <a:solidFill>
              <a:srgbClr val="D4D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236810" y="4023360"/>
            <a:ext cx="1874519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500" b="1">
                <a:solidFill>
                  <a:srgbClr val="09090B"/>
                </a:solidFill>
                <a:latin typeface="Inter"/>
              </a:rPr>
              <a:t>Simulator</a:t>
            </a:r>
          </a:p>
          <a:p>
            <a:pPr algn="ctr">
              <a:lnSpc>
                <a:spcPct val="120000"/>
              </a:lnSpc>
            </a:pPr>
            <a:r>
              <a:rPr sz="1100">
                <a:solidFill>
                  <a:srgbClr val="52525B"/>
                </a:solidFill>
                <a:latin typeface="Inter"/>
              </a:rPr>
              <a:t>3-scenario CI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18907" y="3429000"/>
            <a:ext cx="2455162" cy="594360"/>
          </a:xfrm>
          <a:prstGeom prst="line">
            <a:avLst/>
          </a:prstGeom>
          <a:ln w="4762">
            <a:solidFill>
              <a:srgbClr val="D4D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209647" y="5349240"/>
            <a:ext cx="7772400" cy="64008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400" b="0">
                <a:solidFill>
                  <a:srgbClr val="52525B"/>
                </a:solidFill>
                <a:latin typeface="Inter"/>
              </a:rPr>
              <a:t>Recommendation + verbatim causal caveat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9788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A1A1AA"/>
                </a:solidFill>
                <a:latin typeface="Inter"/>
              </a:rPr>
              <a:t>Sonnet plans, Haiku executes.    $0.029 / query — 53% cheaper than all-Sonnet, 20 pts more accurate than all-Haiku.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" y="6355080"/>
            <a:ext cx="1054577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64465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1A1AA"/>
                </a:solidFill>
                <a:latin typeface="Inter"/>
              </a:rPr>
              <a:t>PriceIQ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82335" y="64465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A1A1AA"/>
                </a:solidFill>
                <a:latin typeface="Inter"/>
              </a:rPr>
              <a:t>Architecture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C2626"/>
                </a:solidFill>
                <a:latin typeface="Inter"/>
              </a:rPr>
              <a:t>LIVE DEMO  ·  GARDEN TOOLS −10%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4577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9090B"/>
                </a:solidFill>
                <a:latin typeface="Inter"/>
              </a:rPr>
              <a:t>5 tools fire in 31 seconds. Three revenue scenarios.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4114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>
                <a:solidFill>
                  <a:srgbClr val="DC2626"/>
                </a:solidFill>
                <a:latin typeface="Inter"/>
              </a:rPr>
              <a:t>+33%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1A1AA"/>
                </a:solidFill>
                <a:latin typeface="Inter"/>
              </a:rPr>
              <a:t>CENTRAL 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52525B"/>
                </a:solidFill>
                <a:latin typeface="Inter"/>
              </a:rPr>
              <a:t>Revenue lift, 95% CI +21% to +46%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1A1AA"/>
                </a:solidFill>
                <a:latin typeface="Inter"/>
              </a:rPr>
              <a:t>DRIVERS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66360"/>
            <a:ext cx="4114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52525B"/>
                </a:solidFill>
                <a:latin typeface="Inter"/>
              </a:rPr>
              <a:t>β = −2.83  ·  highly elastic
Mother's Day demand × 1.16
Rain headwind × 0.94</a:t>
            </a:r>
          </a:p>
        </p:txBody>
      </p:sp>
      <p:pic>
        <p:nvPicPr>
          <p:cNvPr id="9" name="Picture 8" descr="demo_top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011680"/>
            <a:ext cx="5852160" cy="407801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94960" y="169164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A1A1AA"/>
                </a:solidFill>
                <a:latin typeface="Inter"/>
              </a:rPr>
              <a:t>STREAMLIT  ·  CACHED DEMO TAB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6355080"/>
            <a:ext cx="1054577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64465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1A1AA"/>
                </a:solidFill>
                <a:latin typeface="Inter"/>
              </a:rPr>
              <a:t>PriceIQ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82335" y="64465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A1A1AA"/>
                </a:solidFill>
                <a:latin typeface="Inter"/>
              </a:rPr>
              <a:t>Demo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C2626"/>
                </a:solidFill>
                <a:latin typeface="Inter"/>
              </a:rPr>
              <a:t>REASONING RIGOR  ·  PROMPT VERSION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4577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09090B"/>
                </a:solidFill>
                <a:latin typeface="Inter"/>
              </a:rPr>
              <a:t>Same query, two prompts.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A1A1AA"/>
                </a:solidFill>
                <a:latin typeface="Inter"/>
              </a:rPr>
              <a:t>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9090B"/>
                </a:solidFill>
                <a:latin typeface="Inter"/>
              </a:rPr>
              <a:t>3 of 5 tools called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023360"/>
            <a:ext cx="868680" cy="502920"/>
          </a:xfrm>
          <a:prstGeom prst="roundRect">
            <a:avLst>
              <a:gd name="adj" fmla="val 1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SQL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40230" y="4023360"/>
            <a:ext cx="868680" cy="502920"/>
          </a:xfrm>
          <a:prstGeom prst="roundRect">
            <a:avLst>
              <a:gd name="adj" fmla="val 18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7500" y="4023360"/>
            <a:ext cx="86868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D4D4D8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A1A1AA"/>
                </a:solidFill>
                <a:latin typeface="Inter"/>
              </a:rPr>
              <a:t>Demand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4770" y="4023360"/>
            <a:ext cx="86868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D4D4D8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A1A1AA"/>
                </a:solidFill>
                <a:latin typeface="Inter"/>
              </a:rPr>
              <a:t>Weather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4023360"/>
            <a:ext cx="868680" cy="502920"/>
          </a:xfrm>
          <a:prstGeom prst="roundRect">
            <a:avLst>
              <a:gd name="adj" fmla="val 1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Simulate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5488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52525B"/>
                </a:solidFill>
                <a:latin typeface="Inter"/>
              </a:rPr>
              <a:t>Plan skips demand and weather. Answer correct in direction but missing context — Shortcut Bias.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A1A1AA"/>
                </a:solidFill>
                <a:latin typeface="Inter"/>
              </a:rPr>
              <a:t>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10896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9090B"/>
                </a:solidFill>
                <a:latin typeface="Inter"/>
              </a:rPr>
              <a:t>5 of 5 tools called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023360"/>
            <a:ext cx="868680" cy="502920"/>
          </a:xfrm>
          <a:prstGeom prst="roundRect">
            <a:avLst>
              <a:gd name="adj" fmla="val 1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18070" y="4023360"/>
            <a:ext cx="868680" cy="502920"/>
          </a:xfrm>
          <a:prstGeom prst="roundRect">
            <a:avLst>
              <a:gd name="adj" fmla="val 18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35340" y="4023360"/>
            <a:ext cx="868680" cy="502920"/>
          </a:xfrm>
          <a:prstGeom prst="roundRect">
            <a:avLst>
              <a:gd name="adj" fmla="val 1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Demand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52610" y="4023360"/>
            <a:ext cx="868680" cy="502920"/>
          </a:xfrm>
          <a:prstGeom prst="roundRect">
            <a:avLst>
              <a:gd name="adj" fmla="val 1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Weather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69880" y="4023360"/>
            <a:ext cx="868680" cy="502920"/>
          </a:xfrm>
          <a:prstGeom prst="roundRect">
            <a:avLst>
              <a:gd name="adj" fmla="val 1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Simulate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75488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52525B"/>
                </a:solidFill>
                <a:latin typeface="Inter"/>
              </a:rPr>
              <a:t>Same query plus 5 worked examples + 11-category list. Plan completes the full pipeline. +45% cost, complete context.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9788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A1A1AA"/>
                </a:solidFill>
                <a:latin typeface="Inter"/>
              </a:rPr>
              <a:t>In agent design, the prompt is not a hint — it's a contract.
Without examples, the LLM honors the letter of the spec but not the intent.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2960" y="6355080"/>
            <a:ext cx="1054577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64465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1A1AA"/>
                </a:solidFill>
                <a:latin typeface="Inter"/>
              </a:rPr>
              <a:t>PriceIQ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82335" y="64465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A1A1AA"/>
                </a:solidFill>
                <a:latin typeface="Inter"/>
              </a:rPr>
              <a:t>PVC story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C2626"/>
                </a:solidFill>
                <a:latin typeface="Inter"/>
              </a:rPr>
              <a:t>EVALUATION  ·  50 CASES  ·  LLM-AS-JUDGE  ·  3-RUN CONSISTENCY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4577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9090B"/>
                </a:solidFill>
                <a:latin typeface="Inter"/>
              </a:rPr>
              <a:t>92% pass rate at $0.029 per query.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2926080"/>
            <a:ext cx="2560320" cy="2560320"/>
          </a:xfrm>
          <a:prstGeom prst="ellipse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>
            <a:off x="1371600" y="2926080"/>
            <a:ext cx="2560320" cy="2560320"/>
          </a:xfrm>
          <a:prstGeom prst="pie">
            <a:avLst>
              <a:gd name="adj1" fmla="val -9000000"/>
              <a:gd name="adj2" fmla="val 241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45920" y="3200400"/>
            <a:ext cx="2011680" cy="2011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7490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A1A1AA"/>
                </a:solidFill>
                <a:latin typeface="Inter"/>
              </a:rPr>
              <a:t>PASS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402336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09090B"/>
                </a:solidFill>
                <a:latin typeface="Inter"/>
              </a:rPr>
              <a:t>92%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66928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2525B"/>
                </a:solidFill>
                <a:latin typeface="Inter"/>
              </a:rPr>
              <a:t>46 of 50  ·  judge score 4.3 /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4231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1A1AA"/>
                </a:solidFill>
                <a:latin typeface="Inter"/>
              </a:rPr>
              <a:t>COST PER 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743200"/>
            <a:ext cx="54864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09090B"/>
                </a:solidFill>
                <a:latin typeface="Inter"/>
              </a:rPr>
              <a:t>$0.029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3703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52525B"/>
                </a:solidFill>
                <a:latin typeface="Inter"/>
              </a:rPr>
              <a:t>vs $0.062 all-Sonnet  ·  vs $0.016 all-Haiku (76% pass)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44348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1A1AA"/>
                </a:solidFill>
                <a:latin typeface="Inter"/>
              </a:rPr>
              <a:t>CATEGORY CONSISTENCY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754880"/>
            <a:ext cx="54864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09090B"/>
                </a:solidFill>
                <a:latin typeface="Inter"/>
              </a:rPr>
              <a:t>97%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56692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52525B"/>
                </a:solidFill>
                <a:latin typeface="Inter"/>
              </a:rPr>
              <a:t>same query → same category across 3 runs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9788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A1A1AA"/>
                </a:solidFill>
                <a:latin typeface="Inter"/>
              </a:rPr>
              <a:t>Multicollinearity warning: 100% on relevant cases.    Causal caveat: included on every successful run.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6355080"/>
            <a:ext cx="1054577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64465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1A1AA"/>
                </a:solidFill>
                <a:latin typeface="Inter"/>
              </a:rPr>
              <a:t>PriceIQ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82335" y="64465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A1A1AA"/>
                </a:solidFill>
                <a:latin typeface="Inter"/>
              </a:rPr>
              <a:t>Eval &amp; FinOps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C2626"/>
                </a:solidFill>
                <a:latin typeface="Inter"/>
              </a:rPr>
              <a:t>HONEST FAILURES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4577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09090B"/>
                </a:solidFill>
                <a:latin typeface="Inter"/>
              </a:rPr>
              <a:t>Six logged. Four fixed in this phase.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A1A1AA"/>
                </a:solidFill>
                <a:latin typeface="Inter"/>
              </a:rPr>
              <a:t>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50292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>
                <a:solidFill>
                  <a:srgbClr val="52525B"/>
                </a:solidFill>
                <a:latin typeface="Inter"/>
              </a:rPr>
              <a:t>F-01  Memory threshold confused mid-loop — raised 8K → 30K, added explicit "finalize NOW" instruction.
F-02  Multicollinearity flipped β sign — reduced 7 predictors to 2, added diagnostic + fallback.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3108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A1A1AA"/>
                </a:solidFill>
                <a:latin typeface="Inter"/>
              </a:rPr>
              <a:t>OPEN  ·  ACKNOWLEDGED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566160"/>
            <a:ext cx="50292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>
                <a:solidFill>
                  <a:srgbClr val="52525B"/>
                </a:solidFill>
                <a:latin typeface="Inter"/>
              </a:rPr>
              <a:t>F-06  Out-of-scope query "weather in Tokyo?" mapped to telefonia instead of refusing. Tool 1's found:False recovered the run, ~$0.005 wasted.
Fix in v3 prompt — deferred.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9788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A1A1AA"/>
                </a:solidFill>
                <a:latin typeface="Inter"/>
              </a:rPr>
              <a:t>Full log: Failure_Log_Phase2.md    Red-team: RT-01..RT-04 in Phase2_Final_Report §5.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6355080"/>
            <a:ext cx="1054577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64465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1A1AA"/>
                </a:solidFill>
                <a:latin typeface="Inter"/>
              </a:rPr>
              <a:t>PriceIQ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82335" y="64465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A1A1AA"/>
                </a:solidFill>
                <a:latin typeface="Inter"/>
              </a:rPr>
              <a:t>Failures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DC2626"/>
                </a:solidFill>
                <a:latin typeface="Inter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06040"/>
            <a:ext cx="1054577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09090B"/>
                </a:solidFill>
                <a:latin typeface="Inter"/>
              </a:rP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023360"/>
            <a:ext cx="548640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26280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9090B"/>
                </a:solidFill>
                <a:latin typeface="JetBrains Mono"/>
              </a:rPr>
              <a:t>repo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4526280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2525B"/>
                </a:solidFill>
                <a:latin typeface="JetBrains Mono"/>
              </a:rPr>
              <a:t>22 files  ·  9 .py + 9 .md + 2 .json + 1 .ipynb + 1 .txt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10328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9090B"/>
                </a:solidFill>
                <a:latin typeface="JetBrains Mono"/>
              </a:rPr>
              <a:t>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910328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2525B"/>
                </a:solidFill>
                <a:latin typeface="JetBrains Mono"/>
              </a:rPr>
              <a:t>streamlit run 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94376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9090B"/>
                </a:solidFill>
                <a:latin typeface="JetBrains Mono"/>
              </a:rPr>
              <a:t>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5294376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2525B"/>
                </a:solidFill>
                <a:latin typeface="JetBrains Mono"/>
              </a:rPr>
              <a:t>eval_suite.run_full_eval(n=50, consistency_runs=3)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2648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A1A1AA"/>
                </a:solidFill>
                <a:latin typeface="Inter"/>
              </a:rPr>
              <a:t>Sun  ·  Cheng  ·  Li      JHU Carey  ·  Generative AI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